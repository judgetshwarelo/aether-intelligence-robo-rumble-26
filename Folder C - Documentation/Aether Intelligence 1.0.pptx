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4" r:id="rId5"/>
    <p:sldId id="265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23AD-BBA4-04C9-FB7A-F8BAEA567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132F3-7360-3934-D8F5-609850C2C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91ADB-D4AF-7887-480F-2C82EDB1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04DDB-4C18-5FB3-2D88-88B77D29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9A2D1-B06E-D481-6FA0-B955D71F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9102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236A-EEC4-91F6-ED80-CA172AF5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94332-0255-BD7A-8B44-11B25EF7E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1770C-77E4-BB3D-E230-61103C7FD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778CD-92F7-1375-C96F-0C179FAF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58F91-D054-EF75-4EAD-7857F09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80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338E-D124-F04F-1CE6-EE2B68C4C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4919F-62DF-1C86-F22F-34E2BF1D4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08A94-7DB3-8A4C-9A3D-F0027E18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FB03A-4748-A3A0-1954-9C8D774D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CD768-A88C-7860-EB3B-29913B19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483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D27F8-6FDB-C7A0-89AF-5ABB7CF3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09E5C-062B-4CC3-F263-E3E6C6361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36D7D-0E73-CB94-3223-0F44C675E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9990-C38A-C155-C3F6-A97D3DF5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30E0A-CE9E-1B47-C991-CCAC748D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821AD-2263-8FDC-86B2-457CD986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87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7CF7-229A-2459-03C6-2FCF13D05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16B20-9607-6594-2A93-2F202EE28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7D7C5-99A1-B5BD-046D-C0A598825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519A1-054F-8686-71E6-4A2041505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F9447-7DB5-2AD4-5E3A-C4F4BF9A8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624C6-B438-57B9-E6A5-7653D821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C1A81B-3081-12AB-131D-E7A113B7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76A248-AAC3-DEA0-8D04-7F72C6E3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359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A1D4-2781-F744-E6EC-E239C522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4C26A-E46B-1D33-5B1C-9E1555E9F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9E7A-CDDB-A672-B266-9542FA25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10DF1-48E5-F07C-06F0-D57B5D4D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2512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69FB1-5BD8-5D4C-DB15-38A312800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B2A98-AEB2-D176-5C4A-87400FF4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2FFF3-605C-EFCB-6DB5-35596E70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984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0FCE-5E7F-DED2-8CE2-5E6120766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6B44E-09BC-477E-D0B9-EE7C5C58F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F96E1-4592-2273-6881-32F9FA2E6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0D16A-B725-D412-5D70-8F230B930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0C882-2A13-5346-A2DB-B851ACD6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63F65-B140-27FF-4035-A32C21FB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468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CB1D-CC68-B2B9-B57B-20FEA814A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559063-20CA-671C-7660-18227D854F6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A97B2-82D2-ADC5-1896-2EC724B97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CB48-8759-5FDD-C0B6-55A64C5D2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103CF-AB67-256C-3436-E9F5A8A5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AB487-957B-4DA5-2114-43BE385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12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7561-527C-27EF-38AC-68E7920F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2BC1E-2CBF-A2D7-F1B6-AD1D30AE0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1819E-549C-2D08-B868-DFB8DB8D6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AC561-5FB2-6F60-B2C8-2A722A21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7511-96CA-4497-62A1-FBB8B35F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9116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8ECEF-9B1D-9A1B-901D-A600131BB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8BCD9-AF70-670E-E9CF-F833D888D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25414-9B2C-17F6-D20A-C6BF54D5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844BB-D1BA-F95F-629D-3CDD99DB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0B48C-F7CF-4F77-A516-DEA4C15F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512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1A377-0114-5BE7-9F71-E6E4B387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AE991-6C39-4A03-57CD-391AA5C4A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B7371-2969-70CD-2ADC-0B6C04DB3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F0DD31-0C65-49BE-AEA6-308C7154F007}" type="datetimeFigureOut">
              <a:rPr lang="en-ZA" smtClean="0"/>
              <a:t>2026/10/16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16F72-CE5D-9A0F-FFE4-DFFF43FDF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F5BB2-74F9-8B35-3CEA-341B04468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94C69-B9E7-49BA-AEE8-B7C509A0ED1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297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B39840-D3C2-5B21-5C97-5A54E13BC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5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293C9D-9CDC-1F8D-B5E1-9662DD1299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2" b="23198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D9114-F721-6DA6-BC27-6B5C4B95A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SENOAMADI TJ – AI ENG</a:t>
            </a:r>
            <a:br>
              <a:rPr lang="en-US" sz="3700" dirty="0">
                <a:solidFill>
                  <a:srgbClr val="FFFFFF"/>
                </a:solidFill>
              </a:rPr>
            </a:br>
            <a:br>
              <a:rPr lang="en-US" sz="3700" dirty="0">
                <a:solidFill>
                  <a:srgbClr val="FFFFFF"/>
                </a:solidFill>
              </a:rPr>
            </a:br>
            <a:r>
              <a:rPr lang="en-US" sz="3700" dirty="0">
                <a:solidFill>
                  <a:srgbClr val="FFFFFF"/>
                </a:solidFill>
              </a:rPr>
              <a:t>LETSIE TR – ELECTRONICS ENG</a:t>
            </a:r>
            <a:br>
              <a:rPr lang="en-US" sz="3700" dirty="0">
                <a:solidFill>
                  <a:srgbClr val="FFFFFF"/>
                </a:solidFill>
              </a:rPr>
            </a:br>
            <a:br>
              <a:rPr lang="en-US" sz="3700" dirty="0">
                <a:solidFill>
                  <a:srgbClr val="FFFFFF"/>
                </a:solidFill>
              </a:rPr>
            </a:br>
            <a:r>
              <a:rPr lang="en-US" sz="3700" dirty="0">
                <a:solidFill>
                  <a:srgbClr val="FFFFFF"/>
                </a:solidFill>
              </a:rPr>
              <a:t>NAKANA SS – CAD &amp;  IoT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16A83D1-3E3C-295A-6DFA-B233473DEFD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3145728" y="7069393"/>
            <a:ext cx="570270" cy="167148"/>
          </a:xfrm>
        </p:spPr>
        <p:txBody>
          <a:bodyPr anchor="ctr">
            <a:normAutofit fontScale="25000" lnSpcReduction="20000"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88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5B0D-F237-4741-95ED-5AD97F6B8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Overview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A5B34-1AFE-482F-ABC2-D83C13C7C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002"/>
            <a:ext cx="10515600" cy="4351338"/>
          </a:xfrm>
        </p:spPr>
        <p:txBody>
          <a:bodyPr/>
          <a:lstStyle/>
          <a:p>
            <a:r>
              <a:rPr lang="en-GB" dirty="0"/>
              <a:t>Aether is an intelligent campus safety system. The goal is to help campus security respond, more effective and smarter</a:t>
            </a:r>
          </a:p>
          <a:p>
            <a:r>
              <a:rPr lang="en-GB" dirty="0"/>
              <a:t>Delays in Reporting and identifying location tend to put lives at risk. Traditional emergency systems operate separately, which makes it difficult to access information in one place</a:t>
            </a:r>
          </a:p>
          <a:p>
            <a:endParaRPr lang="en-GB" dirty="0"/>
          </a:p>
          <a:p>
            <a:r>
              <a:rPr lang="en-GB" dirty="0"/>
              <a:t>We addresses this challenge by bringing required information for response together on one platform.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6617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A1AE31-4B5F-405E-85E8-51EA4F418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26414" cy="60842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9F20F8-ABE5-4124-9DE0-B1BAF34D1FD9}"/>
              </a:ext>
            </a:extLst>
          </p:cNvPr>
          <p:cNvSpPr txBox="1"/>
          <p:nvPr/>
        </p:nvSpPr>
        <p:spPr>
          <a:xfrm>
            <a:off x="9075107" y="175364"/>
            <a:ext cx="28058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proposed solution allows student to request emergency assistance through smart panic button integrated into a key holder.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6B2C3-431A-4200-B06C-F54DA8649B7A}"/>
              </a:ext>
            </a:extLst>
          </p:cNvPr>
          <p:cNvSpPr txBox="1"/>
          <p:nvPr/>
        </p:nvSpPr>
        <p:spPr>
          <a:xfrm>
            <a:off x="9075107" y="2637692"/>
            <a:ext cx="29879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How it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Once activate, an alert is sent to campus control centre  - which displays required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security personnel can then carry out appropriate response.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7014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2EC158-5525-48C1-AB06-1D01A7951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2" y="203688"/>
            <a:ext cx="8543194" cy="42715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0706A1-03AD-4519-950E-44BC18AC7E27}"/>
              </a:ext>
            </a:extLst>
          </p:cNvPr>
          <p:cNvSpPr txBox="1"/>
          <p:nvPr/>
        </p:nvSpPr>
        <p:spPr>
          <a:xfrm>
            <a:off x="413238" y="4475285"/>
            <a:ext cx="8018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smart key holder, uses finger print technology to avoid false alert – and it requires press and hold for about 5 seconds where it will flash a blue light to show the emergency </a:t>
            </a:r>
            <a:r>
              <a:rPr lang="en-GB"/>
              <a:t>is active.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04440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C82D1-F9F1-E48C-6864-9B3B79A03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2501984"/>
            <a:ext cx="3201366" cy="14723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606A1-1458-F1C5-4AFD-87F9FB1AD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304800"/>
            <a:ext cx="6555347" cy="589072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Who benefits? </a:t>
            </a:r>
          </a:p>
          <a:p>
            <a:pPr algn="l"/>
            <a:r>
              <a:rPr lang="en-US" sz="2000" dirty="0"/>
              <a:t>	Limpopo residents, students, People Living Alone.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Who pays? </a:t>
            </a:r>
          </a:p>
          <a:p>
            <a:pPr algn="l"/>
            <a:r>
              <a:rPr lang="en-US" sz="2000" dirty="0"/>
              <a:t>	University / SAPS Community (NOT the victim)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000" dirty="0"/>
              <a:t>Pricing</a:t>
            </a:r>
          </a:p>
          <a:p>
            <a:pPr lvl="0"/>
            <a:r>
              <a:rPr lang="en-ZA" sz="2000" dirty="0"/>
              <a:t>Wearable: R1 200 estimated cost | R2 200 selling price</a:t>
            </a:r>
          </a:p>
          <a:p>
            <a:pPr lvl="0"/>
            <a:r>
              <a:rPr lang="en-ZA" sz="2000" dirty="0"/>
              <a:t>Drone: R4 000 estimated cost | R8 000 selling price</a:t>
            </a:r>
          </a:p>
          <a:p>
            <a:pPr lvl="0"/>
            <a:r>
              <a:rPr lang="en-ZA" sz="2000" dirty="0"/>
              <a:t>Monitoring: R150 per user per month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Pilot: 100 users = R220k + R15k/month monitoring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Scale: 1 500 users = R3.3M + R2.7M/year recurring</a:t>
            </a:r>
          </a:p>
          <a:p>
            <a:pPr algn="l"/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Why they buy: </a:t>
            </a:r>
            <a:br>
              <a:rPr lang="en-US" sz="2000" dirty="0"/>
            </a:br>
            <a:r>
              <a:rPr lang="en-US" sz="2000" dirty="0"/>
              <a:t>I</a:t>
            </a:r>
            <a:r>
              <a:rPr lang="en-ZA" sz="2000" dirty="0" err="1"/>
              <a:t>mprove</a:t>
            </a:r>
            <a:r>
              <a:rPr lang="en-ZA" sz="2000" dirty="0"/>
              <a:t> emergency visibility and coordination, and cut response time from 40min to 10min. </a:t>
            </a:r>
            <a:r>
              <a:rPr lang="en-US" sz="2000" dirty="0"/>
              <a:t>One failed response costs them millions</a:t>
            </a:r>
            <a:r>
              <a:rPr lang="en-US" sz="2000"/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417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6E0B0B-E2AB-D243-193F-44A02AE46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74" r="9089" b="940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76107-3B34-1615-CDF7-A5E9E08D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Thank you.</a:t>
            </a:r>
            <a:br>
              <a:rPr lang="en-US" sz="4800">
                <a:solidFill>
                  <a:schemeClr val="bg1"/>
                </a:solidFill>
              </a:rPr>
            </a:b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11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285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SENOAMADI TJ – AI ENG  LETSIE TR – ELECTRONICS ENG  NAKANA SS – CAD &amp;  IoT</vt:lpstr>
      <vt:lpstr>Overview</vt:lpstr>
      <vt:lpstr>PowerPoint Presentation</vt:lpstr>
      <vt:lpstr>PowerPoint Presentation</vt:lpstr>
      <vt:lpstr>Business Model</vt:lpstr>
      <vt:lpstr>Thank you.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 TSHWARELO JUDGE SENOAMADI (250005414)</dc:creator>
  <cp:lastModifiedBy>MR TSHWARELO JUDGE SENOAMADI (250005414)</cp:lastModifiedBy>
  <cp:revision>9</cp:revision>
  <dcterms:created xsi:type="dcterms:W3CDTF">2026-10-14T22:01:34Z</dcterms:created>
  <dcterms:modified xsi:type="dcterms:W3CDTF">2026-10-16T14:07:52Z</dcterms:modified>
</cp:coreProperties>
</file>
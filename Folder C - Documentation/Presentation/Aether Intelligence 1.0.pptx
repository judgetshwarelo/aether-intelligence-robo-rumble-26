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2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8" d="100"/>
          <a:sy n="58" d="100"/>
        </p:scale>
        <p:origin x="86" y="4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223AD-BBA4-04C9-FB7A-F8BAEA567D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3132F3-7360-3934-D8F5-609850C2C6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E91ADB-D4AF-7887-480F-2C82EDB17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0DD31-0C65-49BE-AEA6-308C7154F007}" type="datetimeFigureOut">
              <a:rPr lang="en-ZA" smtClean="0"/>
              <a:t>2026/10/15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904DDB-4C18-5FB3-2D88-88B77D29E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D9A2D1-B06E-D481-6FA0-B955D71FD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94C69-B9E7-49BA-AEE8-B7C509A0ED1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29102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B236A-EEC4-91F6-ED80-CA172AF50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94332-0255-BD7A-8B44-11B25EF7E2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1770C-77E4-BB3D-E230-61103C7FD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0DD31-0C65-49BE-AEA6-308C7154F007}" type="datetimeFigureOut">
              <a:rPr lang="en-ZA" smtClean="0"/>
              <a:t>2026/10/15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D778CD-92F7-1375-C96F-0C179FAF0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158F91-D054-EF75-4EAD-7857F090A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94C69-B9E7-49BA-AEE8-B7C509A0ED1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9807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0338E-D124-F04F-1CE6-EE2B68C4C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E4919F-62DF-1C86-F22F-34E2BF1D44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E08A94-7DB3-8A4C-9A3D-F0027E189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0DD31-0C65-49BE-AEA6-308C7154F007}" type="datetimeFigureOut">
              <a:rPr lang="en-ZA" smtClean="0"/>
              <a:t>2026/10/15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FFB03A-4748-A3A0-1954-9C8D774D3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5CD768-A88C-7860-EB3B-29913B199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94C69-B9E7-49BA-AEE8-B7C509A0ED1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44832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D27F8-6FDB-C7A0-89AF-5ABB7CF30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B09E5C-062B-4CC3-F263-E3E6C6361E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C36D7D-0E73-CB94-3223-0F44C675E2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9A9990-C38A-C155-C3F6-A97D3DF52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0DD31-0C65-49BE-AEA6-308C7154F007}" type="datetimeFigureOut">
              <a:rPr lang="en-ZA" smtClean="0"/>
              <a:t>2026/10/15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E30E0A-CE9E-1B47-C991-CCAC748DF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5821AD-2263-8FDC-86B2-457CD9863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94C69-B9E7-49BA-AEE8-B7C509A0ED1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8879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07CF7-229A-2459-03C6-2FCF13D05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E16B20-9607-6594-2A93-2F202EE286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D7D7C5-99A1-B5BD-046D-C0A5988259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4519A1-054F-8686-71E6-4A2041505F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5F9447-7DB5-2AD4-5E3A-C4F4BF9A8F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8624C6-B438-57B9-E6A5-7653D8210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0DD31-0C65-49BE-AEA6-308C7154F007}" type="datetimeFigureOut">
              <a:rPr lang="en-ZA" smtClean="0"/>
              <a:t>2026/10/15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C1A81B-3081-12AB-131D-E7A113B73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76A248-AAC3-DEA0-8D04-7F72C6E3D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94C69-B9E7-49BA-AEE8-B7C509A0ED1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33597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EA1D4-2781-F744-E6EC-E239C5229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E4C26A-E46B-1D33-5B1C-9E1555E9F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0DD31-0C65-49BE-AEA6-308C7154F007}" type="datetimeFigureOut">
              <a:rPr lang="en-ZA" smtClean="0"/>
              <a:t>2026/10/15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0C9E7A-CDDB-A672-B266-9542FA25D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C10DF1-48E5-F07C-06F0-D57B5D4D6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94C69-B9E7-49BA-AEE8-B7C509A0ED1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12512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F69FB1-5BD8-5D4C-DB15-38A312800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0DD31-0C65-49BE-AEA6-308C7154F007}" type="datetimeFigureOut">
              <a:rPr lang="en-ZA" smtClean="0"/>
              <a:t>2026/10/15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3B2A98-AEB2-D176-5C4A-87400FF42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72FFF3-605C-EFCB-6DB5-35596E704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94C69-B9E7-49BA-AEE8-B7C509A0ED1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69844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10FCE-5E7F-DED2-8CE2-5E6120766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F6B44E-09BC-477E-D0B9-EE7C5C58F6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4F96E1-4592-2273-6881-32F9FA2E65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B0D16A-B725-D412-5D70-8F230B930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0DD31-0C65-49BE-AEA6-308C7154F007}" type="datetimeFigureOut">
              <a:rPr lang="en-ZA" smtClean="0"/>
              <a:t>2026/10/15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30C882-2A13-5346-A2DB-B851ACD67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663F65-B140-27FF-4035-A32C21FBA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94C69-B9E7-49BA-AEE8-B7C509A0ED1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74685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DCB1D-CC68-B2B9-B57B-20FEA814A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559063-20CA-671C-7660-18227D854F6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FA97B2-82D2-ADC5-1896-2EC724B973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B7CB48-8759-5FDD-C0B6-55A64C5D2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0DD31-0C65-49BE-AEA6-308C7154F007}" type="datetimeFigureOut">
              <a:rPr lang="en-ZA" smtClean="0"/>
              <a:t>2026/10/15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1103CF-AB67-256C-3436-E9F5A8A56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5AB487-957B-4DA5-2114-43BE38530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94C69-B9E7-49BA-AEE8-B7C509A0ED1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11261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E7561-527C-27EF-38AC-68E7920F0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92BC1E-2CBF-A2D7-F1B6-AD1D30AE09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01819E-549C-2D08-B868-DFB8DB8D6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0DD31-0C65-49BE-AEA6-308C7154F007}" type="datetimeFigureOut">
              <a:rPr lang="en-ZA" smtClean="0"/>
              <a:t>2026/10/15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9AC561-5FB2-6F60-B2C8-2A722A210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C7511-96CA-4497-62A1-FBB8B35F9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94C69-B9E7-49BA-AEE8-B7C509A0ED1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39116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78ECEF-9B1D-9A1B-901D-A600131BB6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18BCD9-AF70-670E-E9CF-F833D888D1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25414-9B2C-17F6-D20A-C6BF54D5D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0DD31-0C65-49BE-AEA6-308C7154F007}" type="datetimeFigureOut">
              <a:rPr lang="en-ZA" smtClean="0"/>
              <a:t>2026/10/15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844BB-D1BA-F95F-629D-3CDD99DBB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F0B48C-F7CF-4F77-A516-DEA4C15F8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94C69-B9E7-49BA-AEE8-B7C509A0ED1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45128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E1A377-0114-5BE7-9F71-E6E4B3870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EAE991-6C39-4A03-57CD-391AA5C4A9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FB7371-2969-70CD-2ADC-0B6C04DB31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F0DD31-0C65-49BE-AEA6-308C7154F007}" type="datetimeFigureOut">
              <a:rPr lang="en-ZA" smtClean="0"/>
              <a:t>2026/10/15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216F72-CE5D-9A0F-FFE4-DFFF43FDF0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4F5BB2-74F9-8B35-3CEA-341B044686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394C69-B9E7-49BA-AEE8-B7C509A0ED1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62972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DB39840-D3C2-5B21-5C97-5A54E13BCF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46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751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!!Rectangle">
            <a:extLst>
              <a:ext uri="{FF2B5EF4-FFF2-40B4-BE49-F238E27FC236}">
                <a16:creationId xmlns:a16="http://schemas.microsoft.com/office/drawing/2014/main" id="{362810D9-2C5A-477D-949C-C191895477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8467"/>
            <a:ext cx="12191999" cy="686646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2293C9D-9CDC-1F8D-B5E1-9662DD12996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02" b="23198"/>
          <a:stretch>
            <a:fillRect/>
          </a:stretch>
        </p:blipFill>
        <p:spPr>
          <a:xfrm>
            <a:off x="20" y="-9107"/>
            <a:ext cx="121919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DD9114-F721-6DA6-BC27-6B5C4B95A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591344"/>
            <a:ext cx="3200400" cy="558561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700" dirty="0">
                <a:solidFill>
                  <a:srgbClr val="FFFFFF"/>
                </a:solidFill>
              </a:rPr>
              <a:t>SENOAMADI TJ – AI ENG</a:t>
            </a:r>
            <a:br>
              <a:rPr lang="en-US" sz="3700" dirty="0">
                <a:solidFill>
                  <a:srgbClr val="FFFFFF"/>
                </a:solidFill>
              </a:rPr>
            </a:br>
            <a:br>
              <a:rPr lang="en-US" sz="3700" dirty="0">
                <a:solidFill>
                  <a:srgbClr val="FFFFFF"/>
                </a:solidFill>
              </a:rPr>
            </a:br>
            <a:r>
              <a:rPr lang="en-US" sz="3700" dirty="0">
                <a:solidFill>
                  <a:srgbClr val="FFFFFF"/>
                </a:solidFill>
              </a:rPr>
              <a:t>LETSIE TR – ELECTRONICS ENG</a:t>
            </a:r>
            <a:br>
              <a:rPr lang="en-US" sz="3700" dirty="0">
                <a:solidFill>
                  <a:srgbClr val="FFFFFF"/>
                </a:solidFill>
              </a:rPr>
            </a:br>
            <a:br>
              <a:rPr lang="en-US" sz="3700" dirty="0">
                <a:solidFill>
                  <a:srgbClr val="FFFFFF"/>
                </a:solidFill>
              </a:rPr>
            </a:br>
            <a:r>
              <a:rPr lang="en-US" sz="3700" dirty="0">
                <a:solidFill>
                  <a:srgbClr val="FFFFFF"/>
                </a:solidFill>
              </a:rPr>
              <a:t>NAKANA SS – CAD &amp;  IoT</a:t>
            </a:r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B16A83D1-3E3C-295A-6DFA-B233473DEFD0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 flipV="1">
            <a:off x="13145728" y="7069393"/>
            <a:ext cx="570270" cy="167148"/>
          </a:xfrm>
        </p:spPr>
        <p:txBody>
          <a:bodyPr anchor="ctr">
            <a:normAutofit fontScale="25000" lnSpcReduction="20000"/>
          </a:bodyPr>
          <a:lstStyle/>
          <a:p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2988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8B646C36-EEEC-4D52-8E8E-206F4CD8A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39693E-A7B1-E821-0FDC-E697FB37B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119" y="810623"/>
            <a:ext cx="4894428" cy="357016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Emergency disappears into a phone call. No resource view.</a:t>
            </a:r>
            <a:br>
              <a:rPr lang="en-US" sz="50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endParaRPr lang="en-US" sz="50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2EBBF56-923D-48A7-9F8F-86E33CFA3E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481655" y="673020"/>
            <a:ext cx="4833902" cy="5683329"/>
            <a:chOff x="1674895" y="1345036"/>
            <a:chExt cx="5428610" cy="4210939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6D5794E-BC9E-4A8A-BB29-9A32C8F267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216175AF-13E0-4D14-8638-11BBE8359A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8258443E-B333-44F4-8D49-1EAB1C1A46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50256" y="596822"/>
            <a:ext cx="4833901" cy="5653877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3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3427" y="115962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4" name="WhatsApp Video 2026-10-15 at 02.29.48">
            <a:hlinkClick r:id="" action="ppaction://media"/>
            <a:extLst>
              <a:ext uri="{FF2B5EF4-FFF2-40B4-BE49-F238E27FC236}">
                <a16:creationId xmlns:a16="http://schemas.microsoft.com/office/drawing/2014/main" id="{67756E53-CF40-E0E0-08C3-EAEADBD59E57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474952" y="1126418"/>
            <a:ext cx="2584509" cy="4594684"/>
          </a:xfrm>
          <a:prstGeom prst="rect">
            <a:avLst/>
          </a:prstGeom>
          <a:ln w="28575">
            <a:noFill/>
          </a:ln>
        </p:spPr>
      </p:pic>
      <p:sp>
        <p:nvSpPr>
          <p:cNvPr id="50" name="Graphic 212">
            <a:extLst>
              <a:ext uri="{FF2B5EF4-FFF2-40B4-BE49-F238E27FC236}">
                <a16:creationId xmlns:a16="http://schemas.microsoft.com/office/drawing/2014/main" id="{4FB204DF-284E-45F6-A017-79A4DF57BC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24285" y="1286612"/>
            <a:ext cx="891445" cy="89144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52" name="Graphic 212">
            <a:extLst>
              <a:ext uri="{FF2B5EF4-FFF2-40B4-BE49-F238E27FC236}">
                <a16:creationId xmlns:a16="http://schemas.microsoft.com/office/drawing/2014/main" id="{EB8560A9-B281-46EB-A304-1E4A5A00D6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24285" y="1286612"/>
            <a:ext cx="891445" cy="89144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4D1A5E71-B6B6-486A-8CDC-C7ABD9B90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31256" y="5416520"/>
            <a:ext cx="419129" cy="419129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667882DD-56E8-460E-99D5-86E71982D5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31256" y="5416520"/>
            <a:ext cx="419129" cy="419129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382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401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!!Rectangle">
            <a:extLst>
              <a:ext uri="{FF2B5EF4-FFF2-40B4-BE49-F238E27FC236}">
                <a16:creationId xmlns:a16="http://schemas.microsoft.com/office/drawing/2014/main" id="{362810D9-2C5A-477D-949C-C191895477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8467"/>
            <a:ext cx="12191999" cy="686646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30A3E4A-AD5A-6341-6AC0-F94138C18EB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68" r="3055" b="1"/>
          <a:stretch>
            <a:fillRect/>
          </a:stretch>
        </p:blipFill>
        <p:spPr>
          <a:xfrm>
            <a:off x="20" y="-9107"/>
            <a:ext cx="121919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FA46D1-F107-017E-05D2-EE6820166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591344"/>
            <a:ext cx="3200400" cy="558561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SOLUTION</a:t>
            </a:r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54D3548F-DEA5-00CF-4D52-16228DA1AE77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 flipV="1">
            <a:off x="13162935" y="5724677"/>
            <a:ext cx="280036" cy="45719"/>
          </a:xfrm>
        </p:spPr>
        <p:txBody>
          <a:bodyPr anchor="ctr">
            <a:normAutofit fontScale="25000" lnSpcReduction="20000"/>
          </a:bodyPr>
          <a:lstStyle/>
          <a:p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9976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EC82D1-F9F1-E48C-6864-9B3B79A03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6722" y="2501984"/>
            <a:ext cx="3201366" cy="147236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Business Model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0606A1-1458-F1C5-4AFD-87F9FB1AD7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59" y="304800"/>
            <a:ext cx="6555347" cy="5890727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Who benefits? </a:t>
            </a:r>
          </a:p>
          <a:p>
            <a:pPr algn="l"/>
            <a:r>
              <a:rPr lang="en-US" sz="2000" dirty="0"/>
              <a:t>	Limpopo residents, students, People Living Alone.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Who pays? </a:t>
            </a:r>
          </a:p>
          <a:p>
            <a:pPr algn="l"/>
            <a:r>
              <a:rPr lang="en-US" sz="2000" dirty="0"/>
              <a:t>	University / SAPS Community (NOT the victim)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ZA" sz="2000" dirty="0"/>
              <a:t>Pricing</a:t>
            </a:r>
          </a:p>
          <a:p>
            <a:pPr lvl="0"/>
            <a:r>
              <a:rPr lang="en-ZA" sz="2000" dirty="0"/>
              <a:t>Wearable: R1 200 estimated cost | R2 200 selling price</a:t>
            </a:r>
          </a:p>
          <a:p>
            <a:pPr lvl="0"/>
            <a:r>
              <a:rPr lang="en-ZA" sz="2000" dirty="0"/>
              <a:t>Drone: R4 000 estimated cost | R8 000 selling price</a:t>
            </a:r>
          </a:p>
          <a:p>
            <a:pPr lvl="0"/>
            <a:r>
              <a:rPr lang="en-ZA" sz="2000" dirty="0"/>
              <a:t>Monitoring: R150 per user per month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Pilot: 100 users = R220k + R15k/month monitoring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Scale: 1 500 users = R3.3M + R2.7M/year recurring</a:t>
            </a:r>
          </a:p>
          <a:p>
            <a:pPr algn="l"/>
            <a:endParaRPr lang="en-US" sz="2000" dirty="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Why they buy: </a:t>
            </a:r>
            <a:br>
              <a:rPr lang="en-US" sz="2000" dirty="0"/>
            </a:br>
            <a:r>
              <a:rPr lang="en-US" sz="2000" dirty="0"/>
              <a:t>I</a:t>
            </a:r>
            <a:r>
              <a:rPr lang="en-ZA" sz="2000" dirty="0" err="1"/>
              <a:t>mprove</a:t>
            </a:r>
            <a:r>
              <a:rPr lang="en-ZA" sz="2000" dirty="0"/>
              <a:t> emergency visibility and coordination, and cut response time from 40min to 10min. </a:t>
            </a:r>
            <a:r>
              <a:rPr lang="en-US" sz="2000" dirty="0"/>
              <a:t>One failed response costs them millions</a:t>
            </a:r>
            <a:r>
              <a:rPr lang="en-US" sz="2000"/>
              <a:t>.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1441702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F6E0B0B-E2AB-D243-193F-44A02AE463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674" r="9089" b="9403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F76107-3B34-1615-CDF7-A5E9E08D1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>
                <a:solidFill>
                  <a:schemeClr val="bg1"/>
                </a:solidFill>
              </a:rPr>
              <a:t>Thank you.</a:t>
            </a:r>
            <a:br>
              <a:rPr lang="en-US" sz="4800">
                <a:solidFill>
                  <a:schemeClr val="bg1"/>
                </a:solidFill>
              </a:rPr>
            </a:br>
            <a:endParaRPr lang="en-US" sz="4800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6112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146</Words>
  <Application>Microsoft Office PowerPoint</Application>
  <PresentationFormat>Widescreen</PresentationFormat>
  <Paragraphs>18</Paragraphs>
  <Slides>6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Office Theme</vt:lpstr>
      <vt:lpstr>PowerPoint Presentation</vt:lpstr>
      <vt:lpstr>SENOAMADI TJ – AI ENG  LETSIE TR – ELECTRONICS ENG  NAKANA SS – CAD &amp;  IoT</vt:lpstr>
      <vt:lpstr>Emergency disappears into a phone call. No resource view. </vt:lpstr>
      <vt:lpstr>SOLUTION</vt:lpstr>
      <vt:lpstr>Business Model</vt:lpstr>
      <vt:lpstr>Thank you.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MR TSHWARELO JUDGE SENOAMADI (250005414)</dc:creator>
  <cp:lastModifiedBy>MR TSHWARELO JUDGE SENOAMADI (250005414)</cp:lastModifiedBy>
  <cp:revision>4</cp:revision>
  <dcterms:created xsi:type="dcterms:W3CDTF">2026-10-14T22:01:34Z</dcterms:created>
  <dcterms:modified xsi:type="dcterms:W3CDTF">2026-10-15T12:32:31Z</dcterms:modified>
</cp:coreProperties>
</file>